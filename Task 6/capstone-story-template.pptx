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1857375"/>
  <p:embeddedFontLst>
    <p:embeddedFont>
      <p:font typeface="IBM Plex Sans"/>
      <p:regular r:id="rId25"/>
      <p:bold r:id="rId26"/>
      <p:italic r:id="rId27"/>
      <p:boldItalic r:id="rId28"/>
    </p:embeddedFont>
    <p:embeddedFont>
      <p:font typeface="IBM Plex Mono SemiBold"/>
      <p:regular r:id="rId29"/>
      <p:bold r:id="rId30"/>
      <p:italic r:id="rId31"/>
      <p:boldItalic r:id="rId32"/>
    </p:embeddedFont>
    <p:embeddedFont>
      <p:font typeface="Helvetica Neue"/>
      <p:regular r:id="rId33"/>
      <p:bold r:id="rId34"/>
      <p:italic r:id="rId35"/>
      <p:boldItalic r:id="rId36"/>
    </p:embeddedFont>
    <p:embeddedFont>
      <p:font typeface="IBM Plex Mon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1" roundtripDataSignature="AMtx7mj2vkfWicLiykZPLZIR9im9dGaF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Mono-boldItalic.fntdata"/><Relationship Id="rId20" Type="http://schemas.openxmlformats.org/officeDocument/2006/relationships/slide" Target="slides/slide16.xml"/><Relationship Id="rId41" Type="http://customschemas.google.com/relationships/presentationmetadata" Target="meta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BMPlexSans-bold.fntdata"/><Relationship Id="rId25" Type="http://schemas.openxmlformats.org/officeDocument/2006/relationships/font" Target="fonts/IBMPlexSans-regular.fntdata"/><Relationship Id="rId28" Type="http://schemas.openxmlformats.org/officeDocument/2006/relationships/font" Target="fonts/IBMPlexSans-boldItalic.fntdata"/><Relationship Id="rId27" Type="http://schemas.openxmlformats.org/officeDocument/2006/relationships/font" Target="fonts/IBMPlexSa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IBMPlexMonoSemiBold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IBMPlexMonoSemiBold-italic.fntdata"/><Relationship Id="rId30" Type="http://schemas.openxmlformats.org/officeDocument/2006/relationships/font" Target="fonts/IBMPlexMonoSemiBold-bold.fntdata"/><Relationship Id="rId11" Type="http://schemas.openxmlformats.org/officeDocument/2006/relationships/slide" Target="slides/slide7.xml"/><Relationship Id="rId33" Type="http://schemas.openxmlformats.org/officeDocument/2006/relationships/font" Target="fonts/HelveticaNeue-regular.fntdata"/><Relationship Id="rId10" Type="http://schemas.openxmlformats.org/officeDocument/2006/relationships/slide" Target="slides/slide6.xml"/><Relationship Id="rId32" Type="http://schemas.openxmlformats.org/officeDocument/2006/relationships/font" Target="fonts/IBMPlexMonoSemiBold-boldItalic.fntdata"/><Relationship Id="rId13" Type="http://schemas.openxmlformats.org/officeDocument/2006/relationships/slide" Target="slides/slide9.xml"/><Relationship Id="rId35" Type="http://schemas.openxmlformats.org/officeDocument/2006/relationships/font" Target="fonts/HelveticaNeue-italic.fntdata"/><Relationship Id="rId12" Type="http://schemas.openxmlformats.org/officeDocument/2006/relationships/slide" Target="slides/slide8.xml"/><Relationship Id="rId34" Type="http://schemas.openxmlformats.org/officeDocument/2006/relationships/font" Target="fonts/HelveticaNeue-bold.fntdata"/><Relationship Id="rId15" Type="http://schemas.openxmlformats.org/officeDocument/2006/relationships/slide" Target="slides/slide11.xml"/><Relationship Id="rId37" Type="http://schemas.openxmlformats.org/officeDocument/2006/relationships/font" Target="fonts/IBMPlexMono-regular.fntdata"/><Relationship Id="rId14" Type="http://schemas.openxmlformats.org/officeDocument/2006/relationships/slide" Target="slides/slide10.xml"/><Relationship Id="rId36" Type="http://schemas.openxmlformats.org/officeDocument/2006/relationships/font" Target="fonts/HelveticaNeue-boldItalic.fntdata"/><Relationship Id="rId17" Type="http://schemas.openxmlformats.org/officeDocument/2006/relationships/slide" Target="slides/slide13.xml"/><Relationship Id="rId39" Type="http://schemas.openxmlformats.org/officeDocument/2006/relationships/font" Target="fonts/IBMPlexMono-italic.fntdata"/><Relationship Id="rId16" Type="http://schemas.openxmlformats.org/officeDocument/2006/relationships/slide" Target="slides/slide12.xml"/><Relationship Id="rId38" Type="http://schemas.openxmlformats.org/officeDocument/2006/relationships/font" Target="fonts/IBMPlexMono-bold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9" name="Google Shape;19;p22"/>
          <p:cNvCxnSpPr/>
          <p:nvPr/>
        </p:nvCxnSpPr>
        <p:spPr>
          <a:xfrm>
            <a:off x="838200" y="1364249"/>
            <a:ext cx="10515600" cy="36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" type="body"/>
          </p:nvPr>
        </p:nvSpPr>
        <p:spPr>
          <a:xfrm>
            <a:off x="838200" y="169068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3" name="Google Shape;23;p23"/>
          <p:cNvCxnSpPr/>
          <p:nvPr/>
        </p:nvCxnSpPr>
        <p:spPr>
          <a:xfrm>
            <a:off x="838200" y="1296645"/>
            <a:ext cx="10515600" cy="36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4"/>
          <p:cNvSpPr txBox="1"/>
          <p:nvPr>
            <p:ph type="ctrTitle"/>
          </p:nvPr>
        </p:nvSpPr>
        <p:spPr>
          <a:xfrm>
            <a:off x="2880360" y="1168401"/>
            <a:ext cx="643128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800"/>
              <a:buFont typeface="IBM Plex Mono SemiBold"/>
              <a:buNone/>
              <a:defRPr sz="48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" type="subTitle"/>
          </p:nvPr>
        </p:nvSpPr>
        <p:spPr>
          <a:xfrm>
            <a:off x="2880360" y="3731247"/>
            <a:ext cx="643128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2400"/>
              <a:buNone/>
              <a:defRPr b="1" sz="2400">
                <a:solidFill>
                  <a:srgbClr val="00B0F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cxnSp>
        <p:nvCxnSpPr>
          <p:cNvPr id="27" name="Google Shape;27;p24"/>
          <p:cNvCxnSpPr/>
          <p:nvPr/>
        </p:nvCxnSpPr>
        <p:spPr>
          <a:xfrm>
            <a:off x="2880360" y="3649111"/>
            <a:ext cx="643128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8" name="Google Shape;28;p24"/>
          <p:cNvSpPr/>
          <p:nvPr/>
        </p:nvSpPr>
        <p:spPr>
          <a:xfrm>
            <a:off x="4093580" y="5537419"/>
            <a:ext cx="4004840" cy="304359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IBM Corporation. All rights reserved.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6000"/>
              <a:buFont typeface="IBM Plex Mono SemiBold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800"/>
              <a:buFont typeface="IBM Plex Mono SemiBold"/>
              <a:buNone/>
              <a:defRPr sz="48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2" name="Google Shape;42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0139" y="6371623"/>
            <a:ext cx="2456070" cy="378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5870" y="6371623"/>
            <a:ext cx="3375991" cy="397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lank" showMasterSp="0">
  <p:cSld name="3_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0139" y="6371623"/>
            <a:ext cx="2456070" cy="378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5870" y="6371623"/>
            <a:ext cx="3375991" cy="397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3200"/>
              <a:buFont typeface="IBM Plex Mono SemiBold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3200"/>
              <a:buChar char="•"/>
              <a:defRPr sz="3200"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  <a:defRPr sz="2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400"/>
              <a:buChar char="•"/>
              <a:defRPr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Char char="•"/>
              <a:defRPr sz="2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Char char="•"/>
              <a:defRPr sz="2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0" name="Google Shape;50;p3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600"/>
              <a:buNone/>
              <a:defRPr sz="16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3200"/>
              <a:buFont typeface="IBM Plex Mono SemiBold"/>
              <a:buNone/>
              <a:defRPr sz="3200"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3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600"/>
              <a:buNone/>
              <a:defRPr sz="16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000"/>
              <a:buFont typeface="IBM Plex Mono SemiBold"/>
              <a:buNone/>
              <a:defRPr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2"/>
          <p:cNvSpPr txBox="1"/>
          <p:nvPr>
            <p:ph idx="1" type="body"/>
          </p:nvPr>
        </p:nvSpPr>
        <p:spPr>
          <a:xfrm rot="5400000">
            <a:off x="3920331" y="-1234281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400"/>
              <a:buChar char="•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Char char="•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">
  <p:cSld name="2_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000"/>
              <a:buFont typeface="IBM Plex Mono SemiBold"/>
              <a:buNone/>
              <a:defRPr b="0" i="0" sz="4000" u="none" cap="none" strike="noStrike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70C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70C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70C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070C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070C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pic>
        <p:nvPicPr>
          <p:cNvPr id="12" name="Google Shape;12;p2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40139" y="6371623"/>
            <a:ext cx="2456070" cy="378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75870" y="6371623"/>
            <a:ext cx="3375991" cy="397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1"/>
          <p:cNvPicPr preferRelativeResize="0"/>
          <p:nvPr/>
        </p:nvPicPr>
        <p:blipFill rotWithShape="1">
          <a:blip r:embed="rId3">
            <a:alphaModFix amt="3000"/>
          </a:blip>
          <a:srcRect b="0" l="0" r="0" t="0"/>
          <a:stretch/>
        </p:blipFill>
        <p:spPr>
          <a:xfrm>
            <a:off x="1066800" y="861346"/>
            <a:ext cx="10058400" cy="569975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ataplatform.cloud.ibm.com/dashboards/d54f1b69-301a-446d-b9cc-f6119491654d/view/6035d8153fa220c409c8f6e4079c7e5078657359e1bb815789827b4909627297a9601392c82a4a52db195066f2ec17599b" TargetMode="External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/>
          <p:nvPr>
            <p:ph type="title"/>
          </p:nvPr>
        </p:nvSpPr>
        <p:spPr>
          <a:xfrm>
            <a:off x="6172200" y="2345719"/>
            <a:ext cx="498432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59B"/>
              </a:buClr>
              <a:buSzPct val="100000"/>
              <a:buFont typeface="IBM Plex Mono SemiBold"/>
              <a:buNone/>
            </a:pPr>
            <a:r>
              <a:rPr lang="en-US">
                <a:solidFill>
                  <a:srgbClr val="0E659B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STACK OVERFLOW DEVELOPER SURVEY 2019 PRESENTATION</a:t>
            </a:r>
            <a:endParaRPr>
              <a:solidFill>
                <a:srgbClr val="0E659B"/>
              </a:solidFill>
            </a:endParaRPr>
          </a:p>
        </p:txBody>
      </p:sp>
      <p:pic>
        <p:nvPicPr>
          <p:cNvPr id="68" name="Google Shape;6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1569" y="1825625"/>
            <a:ext cx="4794861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"/>
          <p:cNvSpPr txBox="1"/>
          <p:nvPr>
            <p:ph idx="2" type="body"/>
          </p:nvPr>
        </p:nvSpPr>
        <p:spPr>
          <a:xfrm>
            <a:off x="6144658" y="3670176"/>
            <a:ext cx="5181600" cy="2616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>
                <a:latin typeface="IBM Plex Mono"/>
                <a:ea typeface="IBM Plex Mono"/>
                <a:cs typeface="IBM Plex Mono"/>
                <a:sym typeface="IBM Plex Mono"/>
              </a:rPr>
              <a:t>Sebastian Lucatero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>
                <a:latin typeface="IBM Plex Mono"/>
                <a:ea typeface="IBM Plex Mono"/>
                <a:cs typeface="IBM Plex Mono"/>
                <a:sym typeface="IBM Plex Mono"/>
              </a:rPr>
              <a:t>11/30/2023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0711" y="2025672"/>
            <a:ext cx="3194581" cy="319458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2"/>
          <p:cNvSpPr txBox="1"/>
          <p:nvPr>
            <p:ph type="title"/>
          </p:nvPr>
        </p:nvSpPr>
        <p:spPr>
          <a:xfrm>
            <a:off x="782054" y="263810"/>
            <a:ext cx="850852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000"/>
              <a:buFont typeface="IBM Plex Mono SemiBold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76" name="Google Shape;76;p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200"/>
              <a:buChar char="•"/>
            </a:pPr>
            <a:r>
              <a:rPr lang="en-US" sz="2200"/>
              <a:t>Executive Summary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200"/>
              <a:buChar char="•"/>
            </a:pPr>
            <a:r>
              <a:rPr lang="en-US" sz="2200"/>
              <a:t>Introduction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200"/>
              <a:buChar char="•"/>
            </a:pPr>
            <a:r>
              <a:rPr lang="en-US" sz="2200"/>
              <a:t>Methodology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200"/>
              <a:buChar char="•"/>
            </a:pPr>
            <a:r>
              <a:rPr lang="en-US" sz="2200"/>
              <a:t>Results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</a:pPr>
            <a:r>
              <a:rPr lang="en-US" sz="1800"/>
              <a:t>Visualization – Charts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</a:pPr>
            <a:r>
              <a:rPr lang="en-US" sz="1800"/>
              <a:t>Dashboard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200"/>
              <a:buChar char="•"/>
            </a:pPr>
            <a:r>
              <a:rPr lang="en-US" sz="2200"/>
              <a:t>Discussion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</a:pPr>
            <a:r>
              <a:rPr lang="en-US" sz="1800"/>
              <a:t>Findings &amp; Implications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200"/>
              <a:buChar char="•"/>
            </a:pPr>
            <a:r>
              <a:rPr lang="en-US" sz="2200"/>
              <a:t>Conclusion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200"/>
              <a:buChar char="•"/>
            </a:pPr>
            <a:r>
              <a:rPr lang="en-US" sz="2200"/>
              <a:t>Appendix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 txBox="1"/>
          <p:nvPr>
            <p:ph type="title"/>
          </p:nvPr>
        </p:nvSpPr>
        <p:spPr>
          <a:xfrm>
            <a:off x="733926" y="304965"/>
            <a:ext cx="856510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000"/>
              <a:buFont typeface="IBM Plex Mono SemiBold"/>
              <a:buNone/>
            </a:pPr>
            <a:r>
              <a:rPr lang="en-US"/>
              <a:t>EXECUTIVE SUMMARY</a:t>
            </a:r>
            <a:endParaRPr/>
          </a:p>
        </p:txBody>
      </p:sp>
      <p:sp>
        <p:nvSpPr>
          <p:cNvPr id="83" name="Google Shape;83;p3"/>
          <p:cNvSpPr txBox="1"/>
          <p:nvPr>
            <p:ph idx="2" type="body"/>
          </p:nvPr>
        </p:nvSpPr>
        <p:spPr>
          <a:xfrm>
            <a:off x="4257533" y="1825624"/>
            <a:ext cx="7096267" cy="44654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200"/>
              <a:buChar char="•"/>
            </a:pPr>
            <a:r>
              <a:rPr lang="en-US" sz="2200">
                <a:latin typeface="IBM Plex Mono"/>
                <a:ea typeface="IBM Plex Mono"/>
                <a:cs typeface="IBM Plex Mono"/>
                <a:sym typeface="IBM Plex Mono"/>
              </a:rPr>
              <a:t>Contextualizing Data and Describing key goals of analysis</a:t>
            </a:r>
            <a:endParaRPr sz="2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200"/>
              <a:buChar char="•"/>
            </a:pPr>
            <a:r>
              <a:rPr lang="en-US" sz="2200">
                <a:latin typeface="IBM Plex Mono"/>
                <a:ea typeface="IBM Plex Mono"/>
                <a:cs typeface="IBM Plex Mono"/>
                <a:sym typeface="IBM Plex Mono"/>
              </a:rPr>
              <a:t>Methodology</a:t>
            </a:r>
            <a:endParaRPr sz="22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</a:pPr>
            <a:r>
              <a:rPr lang="en-US" sz="1800">
                <a:latin typeface="IBM Plex Mono"/>
                <a:ea typeface="IBM Plex Mono"/>
                <a:cs typeface="IBM Plex Mono"/>
                <a:sym typeface="IBM Plex Mono"/>
              </a:rPr>
              <a:t>Data collection and Cleaning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</a:pPr>
            <a:r>
              <a:rPr lang="en-US" sz="1800">
                <a:latin typeface="IBM Plex Mono"/>
                <a:ea typeface="IBM Plex Mono"/>
                <a:cs typeface="IBM Plex Mono"/>
                <a:sym typeface="IBM Plex Mono"/>
              </a:rPr>
              <a:t>Exploratory Data Analysis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</a:pPr>
            <a:r>
              <a:rPr lang="en-US" sz="1800">
                <a:latin typeface="IBM Plex Mono"/>
                <a:ea typeface="IBM Plex Mono"/>
                <a:cs typeface="IBM Plex Mono"/>
                <a:sym typeface="IBM Plex Mono"/>
              </a:rPr>
              <a:t>Data Visualization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200"/>
              <a:buChar char="•"/>
            </a:pPr>
            <a:r>
              <a:rPr lang="en-US" sz="2200">
                <a:latin typeface="IBM Plex Mono"/>
                <a:ea typeface="IBM Plex Mono"/>
                <a:cs typeface="IBM Plex Mono"/>
                <a:sym typeface="IBM Plex Mono"/>
              </a:rPr>
              <a:t>Results supported by trends in visualization</a:t>
            </a:r>
            <a:endParaRPr sz="2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200"/>
              <a:buChar char="•"/>
            </a:pPr>
            <a:r>
              <a:rPr lang="en-US" sz="2200">
                <a:latin typeface="IBM Plex Mono"/>
                <a:ea typeface="IBM Plex Mono"/>
                <a:cs typeface="IBM Plex Mono"/>
                <a:sym typeface="IBM Plex Mono"/>
              </a:rPr>
              <a:t>Discussion of results</a:t>
            </a:r>
            <a:endParaRPr sz="2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200"/>
              <a:buChar char="•"/>
            </a:pPr>
            <a:r>
              <a:rPr lang="en-US" sz="2200">
                <a:latin typeface="IBM Plex Mono"/>
                <a:ea typeface="IBM Plex Mono"/>
                <a:cs typeface="IBM Plex Mono"/>
                <a:sym typeface="IBM Plex Mono"/>
              </a:rPr>
              <a:t>Conclusion on research</a:t>
            </a:r>
            <a:endParaRPr sz="2200"/>
          </a:p>
        </p:txBody>
      </p:sp>
      <p:pic>
        <p:nvPicPr>
          <p:cNvPr id="84" name="Google Shape;8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0494" y="2302762"/>
            <a:ext cx="3167039" cy="3194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 txBox="1"/>
          <p:nvPr>
            <p:ph type="title"/>
          </p:nvPr>
        </p:nvSpPr>
        <p:spPr>
          <a:xfrm>
            <a:off x="770021" y="365125"/>
            <a:ext cx="764786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000"/>
              <a:buFont typeface="IBM Plex Mono SemiBold"/>
              <a:buNone/>
            </a:pPr>
            <a:r>
              <a:rPr lang="en-US"/>
              <a:t>INTRODUCTION</a:t>
            </a:r>
            <a:endParaRPr/>
          </a:p>
        </p:txBody>
      </p:sp>
      <p:pic>
        <p:nvPicPr>
          <p:cNvPr id="90" name="Google Shape;9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4347" y="2262036"/>
            <a:ext cx="3054361" cy="305436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"/>
          <p:cNvSpPr txBox="1"/>
          <p:nvPr/>
        </p:nvSpPr>
        <p:spPr>
          <a:xfrm>
            <a:off x="4285075" y="1825625"/>
            <a:ext cx="706872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70C0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 2019 Stack Overflow Developer Survey was a comprehensive online survey of software professionals around the world</a:t>
            </a:r>
            <a:endParaRPr b="0" i="0" sz="2200" u="none" cap="none" strike="noStrike">
              <a:solidFill>
                <a:srgbClr val="0070C0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70C0"/>
                </a:solidFill>
                <a:latin typeface="IBM Plex Mono"/>
                <a:ea typeface="IBM Plex Mono"/>
                <a:cs typeface="IBM Plex Mono"/>
                <a:sym typeface="IBM Plex Mono"/>
              </a:rPr>
              <a:t>Survey included nearly 90,000 developers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70C0"/>
                </a:solidFill>
                <a:latin typeface="IBM Plex Mono"/>
                <a:ea typeface="IBM Plex Mono"/>
                <a:cs typeface="IBM Plex Mono"/>
                <a:sym typeface="IBM Plex Mono"/>
              </a:rPr>
              <a:t>Purpose of analyzing the survey is to characterize current technologies used in the industry 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70C0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Predicting future trends in use of technologies by developers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/>
          <p:cNvSpPr txBox="1"/>
          <p:nvPr>
            <p:ph type="title"/>
          </p:nvPr>
        </p:nvSpPr>
        <p:spPr>
          <a:xfrm>
            <a:off x="782053" y="376642"/>
            <a:ext cx="723072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000"/>
              <a:buFont typeface="IBM Plex Mono SemiBold"/>
              <a:buNone/>
            </a:pPr>
            <a:r>
              <a:rPr lang="en-US"/>
              <a:t>METHODOLOGY</a:t>
            </a:r>
            <a:endParaRPr/>
          </a:p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285075" y="1825625"/>
            <a:ext cx="706872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200"/>
              <a:buChar char="•"/>
            </a:pPr>
            <a:r>
              <a:rPr lang="en-US" sz="2200">
                <a:latin typeface="IBM Plex Mono"/>
                <a:ea typeface="IBM Plex Mono"/>
                <a:cs typeface="IBM Plex Mono"/>
                <a:sym typeface="IBM Plex Mono"/>
              </a:rPr>
              <a:t>Survey Data Collection and exploration</a:t>
            </a:r>
            <a:endParaRPr sz="22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</a:pPr>
            <a:r>
              <a:rPr lang="en-US" sz="1800">
                <a:latin typeface="IBM Plex Mono"/>
                <a:ea typeface="IBM Plex Mono"/>
                <a:cs typeface="IBM Plex Mono"/>
                <a:sym typeface="IBM Plex Mono"/>
              </a:rPr>
              <a:t>APIs</a:t>
            </a:r>
            <a:endParaRPr sz="18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</a:pPr>
            <a:r>
              <a:rPr lang="en-US" sz="1800">
                <a:latin typeface="IBM Plex Mono"/>
                <a:ea typeface="IBM Plex Mono"/>
                <a:cs typeface="IBM Plex Mono"/>
                <a:sym typeface="IBM Plex Mono"/>
              </a:rPr>
              <a:t>Web Scraping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</a:pPr>
            <a:r>
              <a:rPr lang="en-US" sz="1800">
                <a:latin typeface="IBM Plex Mono"/>
                <a:ea typeface="IBM Plex Mono"/>
                <a:cs typeface="IBM Plex Mono"/>
                <a:sym typeface="IBM Plex Mono"/>
              </a:rPr>
              <a:t>Library Requests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200"/>
              <a:buChar char="•"/>
            </a:pPr>
            <a:r>
              <a:rPr lang="en-US" sz="2200">
                <a:latin typeface="IBM Plex Mono"/>
                <a:ea typeface="IBM Plex Mono"/>
                <a:cs typeface="IBM Plex Mono"/>
                <a:sym typeface="IBM Plex Mono"/>
              </a:rPr>
              <a:t>Data Wrangling</a:t>
            </a:r>
            <a:endParaRPr sz="2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200"/>
              <a:buChar char="•"/>
            </a:pPr>
            <a:r>
              <a:rPr lang="en-US" sz="2200">
                <a:latin typeface="IBM Plex Mono"/>
                <a:ea typeface="IBM Plex Mono"/>
                <a:cs typeface="IBM Plex Mono"/>
                <a:sym typeface="IBM Plex Mono"/>
              </a:rPr>
              <a:t>Exploratory Data Analysis</a:t>
            </a:r>
            <a:endParaRPr sz="22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</a:pPr>
            <a:r>
              <a:rPr lang="en-US" sz="1800">
                <a:latin typeface="IBM Plex Mono"/>
                <a:ea typeface="IBM Plex Mono"/>
                <a:cs typeface="IBM Plex Mono"/>
                <a:sym typeface="IBM Plex Mono"/>
              </a:rPr>
              <a:t>Analyzing the data distribution, Handling Outliers, and Correlations</a:t>
            </a:r>
            <a:endParaRPr sz="18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200"/>
              <a:buChar char="•"/>
            </a:pPr>
            <a:r>
              <a:rPr lang="en-US" sz="2200">
                <a:latin typeface="IBM Plex Mono"/>
                <a:ea typeface="IBM Plex Mono"/>
                <a:cs typeface="IBM Plex Mono"/>
                <a:sym typeface="IBM Plex Mono"/>
              </a:rPr>
              <a:t>Data Visualization</a:t>
            </a:r>
            <a:endParaRPr sz="2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200"/>
              <a:buChar char="•"/>
            </a:pPr>
            <a:r>
              <a:rPr lang="en-US" sz="2200">
                <a:latin typeface="IBM Plex Mono"/>
                <a:ea typeface="IBM Plex Mono"/>
                <a:cs typeface="IBM Plex Mono"/>
                <a:sym typeface="IBM Plex Mono"/>
              </a:rPr>
              <a:t>Dashboards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</a:pPr>
            <a:r>
              <a:rPr lang="en-US" sz="1800">
                <a:latin typeface="IBM Plex Mono"/>
                <a:ea typeface="IBM Plex Mono"/>
                <a:cs typeface="IBM Plex Mono"/>
                <a:sym typeface="IBM Plex Mono"/>
              </a:rPr>
              <a:t>Highlight present and future desired technology usage as well as developer demographics</a:t>
            </a:r>
            <a:endParaRPr sz="1800"/>
          </a:p>
        </p:txBody>
      </p:sp>
      <p:pic>
        <p:nvPicPr>
          <p:cNvPr id="98" name="Google Shape;9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9655" y="1831709"/>
            <a:ext cx="3194581" cy="3194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000"/>
              <a:buFont typeface="IBM Plex Mono SemiBold"/>
              <a:buNone/>
            </a:pPr>
            <a:r>
              <a:rPr lang="en-US"/>
              <a:t>RESULTS</a:t>
            </a:r>
            <a:endParaRPr/>
          </a:p>
        </p:txBody>
      </p:sp>
      <p:sp>
        <p:nvSpPr>
          <p:cNvPr id="104" name="Google Shape;104;p6"/>
          <p:cNvSpPr txBox="1"/>
          <p:nvPr>
            <p:ph idx="2" type="body"/>
          </p:nvPr>
        </p:nvSpPr>
        <p:spPr>
          <a:xfrm>
            <a:off x="1043114" y="1825625"/>
            <a:ext cx="706872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</a:pPr>
            <a:r>
              <a:t/>
            </a:r>
            <a:endParaRPr sz="1800"/>
          </a:p>
        </p:txBody>
      </p:sp>
      <p:sp>
        <p:nvSpPr>
          <p:cNvPr id="105" name="Google Shape;105;p6"/>
          <p:cNvSpPr txBox="1"/>
          <p:nvPr/>
        </p:nvSpPr>
        <p:spPr>
          <a:xfrm>
            <a:off x="3947711" y="1505638"/>
            <a:ext cx="7691609" cy="443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70C0"/>
                </a:solidFill>
                <a:latin typeface="IBM Plex Mono"/>
                <a:ea typeface="IBM Plex Mono"/>
                <a:cs typeface="IBM Plex Mono"/>
                <a:sym typeface="IBM Plex Mono"/>
              </a:rPr>
              <a:t>Over 90% of respondents identified as male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70C0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 most common age range was between 18 and 25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70C0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 countries where most people came from were from The U.S or India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70C0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 most Common programming languages were based on Webdevelopment</a:t>
            </a:r>
            <a:endParaRPr b="0" i="0" sz="2200" u="none" cap="none" strike="noStrike">
              <a:solidFill>
                <a:srgbClr val="0070C0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70C0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 most Common Databases were Open sourced 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70C0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 Platforms and Webframeworks used stayed relatively consistent across time</a:t>
            </a:r>
            <a:endParaRPr/>
          </a:p>
          <a:p>
            <a:pPr indent="-2032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70C0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032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70C0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-2032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70C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000"/>
              <a:buFont typeface="IBM Plex Mono SemiBold"/>
              <a:buNone/>
            </a:pPr>
            <a:r>
              <a:rPr lang="en-US"/>
              <a:t>PROGRAMMING LANGUAGE TRENDS</a:t>
            </a:r>
            <a:endParaRPr/>
          </a:p>
        </p:txBody>
      </p:sp>
      <p:sp>
        <p:nvSpPr>
          <p:cNvPr id="112" name="Google Shape;112;p7"/>
          <p:cNvSpPr txBox="1"/>
          <p:nvPr>
            <p:ph idx="1" type="body"/>
          </p:nvPr>
        </p:nvSpPr>
        <p:spPr>
          <a:xfrm>
            <a:off x="1823696" y="1825625"/>
            <a:ext cx="2228642" cy="501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/>
              <a:t>Current Year</a:t>
            </a:r>
            <a:endParaRPr/>
          </a:p>
        </p:txBody>
      </p:sp>
      <p:sp>
        <p:nvSpPr>
          <p:cNvPr id="113" name="Google Shape;113;p7"/>
          <p:cNvSpPr txBox="1"/>
          <p:nvPr>
            <p:ph idx="2" type="body"/>
          </p:nvPr>
        </p:nvSpPr>
        <p:spPr>
          <a:xfrm>
            <a:off x="6172200" y="1825625"/>
            <a:ext cx="1758142" cy="501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/>
              <a:t>Next Year</a:t>
            </a:r>
            <a:endParaRPr/>
          </a:p>
        </p:txBody>
      </p:sp>
      <p:sp>
        <p:nvSpPr>
          <p:cNvPr id="114" name="Google Shape;114;p7"/>
          <p:cNvSpPr txBox="1"/>
          <p:nvPr/>
        </p:nvSpPr>
        <p:spPr>
          <a:xfrm>
            <a:off x="838199" y="2506661"/>
            <a:ext cx="4614949" cy="3670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70C0"/>
                </a:solidFill>
                <a:latin typeface="IBM Plex Mono"/>
                <a:ea typeface="IBM Plex Mono"/>
                <a:cs typeface="IBM Plex Mono"/>
                <a:sym typeface="IBM Plex Mono"/>
              </a:rPr>
              <a:t>&lt;Bar chart of top 10 programming languages for the current year goes here.&gt;</a:t>
            </a:r>
            <a:endParaRPr/>
          </a:p>
        </p:txBody>
      </p:sp>
      <p:sp>
        <p:nvSpPr>
          <p:cNvPr id="115" name="Google Shape;115;p7"/>
          <p:cNvSpPr txBox="1"/>
          <p:nvPr/>
        </p:nvSpPr>
        <p:spPr>
          <a:xfrm>
            <a:off x="6172200" y="2506661"/>
            <a:ext cx="4614949" cy="3670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70C0"/>
                </a:solidFill>
                <a:latin typeface="IBM Plex Mono"/>
                <a:ea typeface="IBM Plex Mono"/>
                <a:cs typeface="IBM Plex Mono"/>
                <a:sym typeface="IBM Plex Mono"/>
              </a:rPr>
              <a:t>&lt; Bar chart of top 10 programming languages for the next year goes here.&gt;</a:t>
            </a:r>
            <a:endParaRPr/>
          </a:p>
        </p:txBody>
      </p:sp>
      <p:pic>
        <p:nvPicPr>
          <p:cNvPr descr="A graph of different colored bars&#10;&#10;Description automatically generated" id="116" name="Google Shape;11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05205"/>
            <a:ext cx="5875662" cy="39735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aph of different colored bars&#10;&#10;Description automatically generated" id="117" name="Google Shape;11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5663" y="2331390"/>
            <a:ext cx="6316337" cy="3948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2800"/>
              <a:buFont typeface="IBM Plex Mono SemiBold"/>
              <a:buNone/>
            </a:pPr>
            <a:r>
              <a:rPr lang="en-US" sz="2800"/>
              <a:t>PROGRAMMING LANGUAGE TRENDS - FINDINGS &amp; IMPLICATIONS</a:t>
            </a:r>
            <a:endParaRPr/>
          </a:p>
        </p:txBody>
      </p:sp>
      <p:sp>
        <p:nvSpPr>
          <p:cNvPr id="123" name="Google Shape;123;p8"/>
          <p:cNvSpPr txBox="1"/>
          <p:nvPr>
            <p:ph idx="1" type="body"/>
          </p:nvPr>
        </p:nvSpPr>
        <p:spPr>
          <a:xfrm>
            <a:off x="813816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/>
              <a:t>Findings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>
                <a:latin typeface="IBM Plex Mono"/>
                <a:ea typeface="IBM Plex Mono"/>
                <a:cs typeface="IBM Plex Mono"/>
                <a:sym typeface="IBM Plex Mono"/>
              </a:rPr>
              <a:t>Javascript, HTML/CSS, SQL far surpass other languages in current year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>
                <a:latin typeface="IBM Plex Mono"/>
                <a:ea typeface="IBM Plex Mono"/>
                <a:cs typeface="IBM Plex Mono"/>
                <a:sym typeface="IBM Plex Mono"/>
              </a:rPr>
              <a:t>C#, Python, and Typescript are growing in popularity within next year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>
                <a:latin typeface="IBM Plex Mono"/>
                <a:ea typeface="IBM Plex Mono"/>
                <a:cs typeface="IBM Plex Mono"/>
                <a:sym typeface="IBM Plex Mono"/>
              </a:rPr>
              <a:t>Bash/Shell/power is losing traction for next year</a:t>
            </a:r>
            <a:endParaRPr/>
          </a:p>
        </p:txBody>
      </p:sp>
      <p:sp>
        <p:nvSpPr>
          <p:cNvPr id="124" name="Google Shape;124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lang="en-US"/>
              <a:t>Implications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US">
                <a:latin typeface="IBM Plex Mono"/>
                <a:ea typeface="IBM Plex Mono"/>
                <a:cs typeface="IBM Plex Mono"/>
                <a:sym typeface="IBM Plex Mono"/>
              </a:rPr>
              <a:t>Wed and Script development is still a highly in demand skill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US">
                <a:latin typeface="IBM Plex Mono"/>
                <a:ea typeface="IBM Plex Mono"/>
                <a:cs typeface="IBM Plex Mono"/>
                <a:sym typeface="IBM Plex Mono"/>
              </a:rPr>
              <a:t>C# and Python are becoming popular possibly due to AI and ML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US">
                <a:latin typeface="IBM Plex Mono"/>
                <a:ea typeface="IBM Plex Mono"/>
                <a:cs typeface="IBM Plex Mono"/>
                <a:sym typeface="IBM Plex Mono"/>
              </a:rPr>
              <a:t>Company-wide proprietary languages like power shell might not be a safe choice to learn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t/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"/>
          <p:cNvSpPr txBox="1"/>
          <p:nvPr>
            <p:ph type="title"/>
          </p:nvPr>
        </p:nvSpPr>
        <p:spPr>
          <a:xfrm>
            <a:off x="862584" y="42876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000"/>
              <a:buFont typeface="IBM Plex Mono SemiBold"/>
              <a:buNone/>
            </a:pPr>
            <a:r>
              <a:rPr lang="en-US"/>
              <a:t>DATABASE TRENDS</a:t>
            </a:r>
            <a:endParaRPr/>
          </a:p>
        </p:txBody>
      </p:sp>
      <p:sp>
        <p:nvSpPr>
          <p:cNvPr id="130" name="Google Shape;130;p9"/>
          <p:cNvSpPr txBox="1"/>
          <p:nvPr>
            <p:ph idx="1" type="body"/>
          </p:nvPr>
        </p:nvSpPr>
        <p:spPr>
          <a:xfrm>
            <a:off x="923985" y="1495119"/>
            <a:ext cx="2228642" cy="501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lang="en-US"/>
              <a:t>Current Year</a:t>
            </a:r>
            <a:endParaRPr/>
          </a:p>
        </p:txBody>
      </p:sp>
      <p:sp>
        <p:nvSpPr>
          <p:cNvPr id="131" name="Google Shape;131;p9"/>
          <p:cNvSpPr txBox="1"/>
          <p:nvPr>
            <p:ph idx="2" type="body"/>
          </p:nvPr>
        </p:nvSpPr>
        <p:spPr>
          <a:xfrm>
            <a:off x="6089573" y="1495119"/>
            <a:ext cx="1758142" cy="501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lang="en-US"/>
              <a:t>Next Year</a:t>
            </a:r>
            <a:endParaRPr/>
          </a:p>
        </p:txBody>
      </p:sp>
      <p:sp>
        <p:nvSpPr>
          <p:cNvPr id="132" name="Google Shape;132;p9"/>
          <p:cNvSpPr txBox="1"/>
          <p:nvPr/>
        </p:nvSpPr>
        <p:spPr>
          <a:xfrm>
            <a:off x="838199" y="2506661"/>
            <a:ext cx="4614949" cy="3670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70C0"/>
                </a:solidFill>
                <a:latin typeface="IBM Plex Mono"/>
                <a:ea typeface="IBM Plex Mono"/>
                <a:cs typeface="IBM Plex Mono"/>
                <a:sym typeface="IBM Plex Mono"/>
              </a:rPr>
              <a:t>&lt; Bar chart of top 10 databases for the current year goes here &gt;</a:t>
            </a:r>
            <a:endParaRPr/>
          </a:p>
        </p:txBody>
      </p:sp>
      <p:sp>
        <p:nvSpPr>
          <p:cNvPr id="133" name="Google Shape;133;p9"/>
          <p:cNvSpPr txBox="1"/>
          <p:nvPr/>
        </p:nvSpPr>
        <p:spPr>
          <a:xfrm>
            <a:off x="6172200" y="2506661"/>
            <a:ext cx="4614949" cy="3670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70C0"/>
                </a:solidFill>
                <a:latin typeface="IBM Plex Mono"/>
                <a:ea typeface="IBM Plex Mono"/>
                <a:cs typeface="IBM Plex Mono"/>
                <a:sym typeface="IBM Plex Mono"/>
              </a:rPr>
              <a:t>&lt; Bar chart of top 10 databases for the next year goes here.&gt;</a:t>
            </a:r>
            <a:endParaRPr/>
          </a:p>
        </p:txBody>
      </p:sp>
      <p:pic>
        <p:nvPicPr>
          <p:cNvPr descr="A graph of different colored squares&#10;&#10;Description automatically generated" id="134" name="Google Shape;13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5351" y="2004247"/>
            <a:ext cx="6086819" cy="4171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194" y="2004249"/>
            <a:ext cx="6105180" cy="4173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 txBox="1"/>
          <p:nvPr>
            <p:ph type="title"/>
          </p:nvPr>
        </p:nvSpPr>
        <p:spPr>
          <a:xfrm>
            <a:off x="810658" y="365125"/>
            <a:ext cx="10543142" cy="9766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ct val="100000"/>
              <a:buFont typeface="IBM Plex Mono SemiBold"/>
              <a:buNone/>
            </a:pPr>
            <a:r>
              <a:rPr lang="en-US"/>
              <a:t>DATABASE TRENDS - FINDINGS &amp; IMPLICATIONS</a:t>
            </a:r>
            <a:endParaRPr/>
          </a:p>
        </p:txBody>
      </p:sp>
      <p:sp>
        <p:nvSpPr>
          <p:cNvPr id="141" name="Google Shape;141;p10"/>
          <p:cNvSpPr txBox="1"/>
          <p:nvPr>
            <p:ph idx="1" type="body"/>
          </p:nvPr>
        </p:nvSpPr>
        <p:spPr>
          <a:xfrm>
            <a:off x="813816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lang="en-US"/>
              <a:t>Findings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US">
                <a:latin typeface="IBM Plex Mono"/>
                <a:ea typeface="IBM Plex Mono"/>
                <a:cs typeface="IBM Plex Mono"/>
                <a:sym typeface="IBM Plex Mono"/>
              </a:rPr>
              <a:t>MySQL is the most popular database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US">
                <a:latin typeface="IBM Plex Mono"/>
                <a:ea typeface="IBM Plex Mono"/>
                <a:cs typeface="IBM Plex Mono"/>
                <a:sym typeface="IBM Plex Mono"/>
              </a:rPr>
              <a:t>MongoDB and Redis are rapidly increasing in demand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US">
                <a:latin typeface="IBM Plex Mono"/>
                <a:ea typeface="IBM Plex Mono"/>
                <a:cs typeface="IBM Plex Mono"/>
                <a:sym typeface="IBM Plex Mono"/>
              </a:rPr>
              <a:t>ElasticSearch unexpectedly gaining popularity</a:t>
            </a:r>
            <a:endParaRPr/>
          </a:p>
        </p:txBody>
      </p:sp>
      <p:sp>
        <p:nvSpPr>
          <p:cNvPr id="142" name="Google Shape;142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lang="en-US"/>
              <a:t>Implications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US">
                <a:latin typeface="IBM Plex Mono"/>
                <a:ea typeface="IBM Plex Mono"/>
                <a:cs typeface="IBM Plex Mono"/>
                <a:sym typeface="IBM Plex Mono"/>
              </a:rPr>
              <a:t>Propietary servers like microsoft SQL server possibly not an important investment in future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US">
                <a:latin typeface="IBM Plex Mono"/>
                <a:ea typeface="IBM Plex Mono"/>
                <a:cs typeface="IBM Plex Mono"/>
                <a:sym typeface="IBM Plex Mono"/>
              </a:rPr>
              <a:t>Open source databases like MongoDB will still be important in companies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US">
                <a:latin typeface="IBM Plex Mono"/>
                <a:ea typeface="IBM Plex Mono"/>
                <a:cs typeface="IBM Plex Mono"/>
                <a:sym typeface="IBM Plex Mono"/>
              </a:rPr>
              <a:t>Search engine based analytic databases will be necessary for analyst toolset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000"/>
              <a:buFont typeface="IBM Plex Mono SemiBold"/>
              <a:buNone/>
            </a:pPr>
            <a:r>
              <a:rPr lang="en-US"/>
              <a:t>DASHBOARD</a:t>
            </a:r>
            <a:endParaRPr/>
          </a:p>
        </p:txBody>
      </p:sp>
      <p:sp>
        <p:nvSpPr>
          <p:cNvPr id="148" name="Google Shape;148;p11"/>
          <p:cNvSpPr txBox="1"/>
          <p:nvPr>
            <p:ph idx="2" type="body"/>
          </p:nvPr>
        </p:nvSpPr>
        <p:spPr>
          <a:xfrm>
            <a:off x="4285075" y="3142210"/>
            <a:ext cx="7068725" cy="25692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200"/>
              <a:buNone/>
            </a:pPr>
            <a:r>
              <a:rPr lang="en-US" sz="2200" u="sng">
                <a:solidFill>
                  <a:schemeClr val="hlink"/>
                </a:solidFill>
                <a:latin typeface="IBM Plex Mono"/>
                <a:ea typeface="IBM Plex Mono"/>
                <a:cs typeface="IBM Plex Mono"/>
                <a:sym typeface="IBM Plex Mono"/>
                <a:hlinkClick r:id="rId3"/>
              </a:rPr>
              <a:t>https://dataplatform.cloud.ibm.com/dashboards/d54f1b69-301a-446d-b9cc-f6119491654d/view/6035d8153fa220c409c8f6e4079c7e5078657359e1bb815789827b4909627297a9601392c82a4a52db195066f2ec17599b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200"/>
              <a:buNone/>
            </a:pPr>
            <a:r>
              <a:t/>
            </a:r>
            <a:endParaRPr sz="2200"/>
          </a:p>
        </p:txBody>
      </p:sp>
      <p:pic>
        <p:nvPicPr>
          <p:cNvPr id="149" name="Google Shape;14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475" y="1901819"/>
            <a:ext cx="3054361" cy="30543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000"/>
              <a:buFont typeface="IBM Plex Mono SemiBold"/>
              <a:buNone/>
            </a:pPr>
            <a:r>
              <a:rPr lang="en-US"/>
              <a:t>DASHBOARD TAB 1</a:t>
            </a:r>
            <a:endParaRPr/>
          </a:p>
        </p:txBody>
      </p:sp>
      <p:sp>
        <p:nvSpPr>
          <p:cNvPr id="155" name="Google Shape;155;p12"/>
          <p:cNvSpPr txBox="1"/>
          <p:nvPr>
            <p:ph idx="1" type="body"/>
          </p:nvPr>
        </p:nvSpPr>
        <p:spPr>
          <a:xfrm>
            <a:off x="7907356" y="295217"/>
            <a:ext cx="2500830" cy="1165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A screenshot of a graph&#10;&#10;Description automatically generated" id="156" name="Google Shape;15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5445" y="1366404"/>
            <a:ext cx="10521109" cy="497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000"/>
              <a:buFont typeface="IBM Plex Mono SemiBold"/>
              <a:buNone/>
            </a:pPr>
            <a:r>
              <a:rPr lang="en-US"/>
              <a:t>DASHBOARD TAB 2</a:t>
            </a:r>
            <a:endParaRPr/>
          </a:p>
        </p:txBody>
      </p:sp>
      <p:sp>
        <p:nvSpPr>
          <p:cNvPr id="162" name="Google Shape;162;p13"/>
          <p:cNvSpPr txBox="1"/>
          <p:nvPr>
            <p:ph idx="1" type="body"/>
          </p:nvPr>
        </p:nvSpPr>
        <p:spPr>
          <a:xfrm flipH="1">
            <a:off x="777608" y="5987266"/>
            <a:ext cx="60592" cy="54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descr="A screenshot of a graph" id="163" name="Google Shape;16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5447" y="1359599"/>
            <a:ext cx="10521107" cy="5056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000"/>
              <a:buFont typeface="IBM Plex Mono SemiBold"/>
              <a:buNone/>
            </a:pPr>
            <a:r>
              <a:rPr lang="en-US"/>
              <a:t>DASHBOARD TAB 3</a:t>
            </a:r>
            <a:endParaRPr/>
          </a:p>
        </p:txBody>
      </p:sp>
      <p:sp>
        <p:nvSpPr>
          <p:cNvPr id="169" name="Google Shape;169;p14"/>
          <p:cNvSpPr txBox="1"/>
          <p:nvPr>
            <p:ph idx="1" type="body"/>
          </p:nvPr>
        </p:nvSpPr>
        <p:spPr>
          <a:xfrm>
            <a:off x="838200" y="169068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A screenshot of a graph&#10;&#10;Description automatically generated" id="170" name="Google Shape;17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5445" y="1332950"/>
            <a:ext cx="10521107" cy="4972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000"/>
              <a:buFont typeface="IBM Plex Mono SemiBold"/>
              <a:buNone/>
            </a:pPr>
            <a:r>
              <a:rPr lang="en-US"/>
              <a:t>DISCUSSION</a:t>
            </a:r>
            <a:endParaRPr/>
          </a:p>
        </p:txBody>
      </p:sp>
      <p:pic>
        <p:nvPicPr>
          <p:cNvPr id="176" name="Google Shape;176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3331" y="1825625"/>
            <a:ext cx="4351338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There is a high gender and age disparity in the industry from low female and higher age participation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There is also a geographic disparity 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There needs to be a further push in reskilling developers and filling in the demographic gaps in 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000"/>
              <a:buFont typeface="IBM Plex Mono SemiBold"/>
              <a:buNone/>
            </a:pPr>
            <a:r>
              <a:rPr lang="en-US"/>
              <a:t>OVERALL FINDINGS &amp; IMPLICATIONS</a:t>
            </a:r>
            <a:endParaRPr/>
          </a:p>
        </p:txBody>
      </p:sp>
      <p:sp>
        <p:nvSpPr>
          <p:cNvPr id="183" name="Google Shape;183;p16"/>
          <p:cNvSpPr txBox="1"/>
          <p:nvPr>
            <p:ph idx="1" type="body"/>
          </p:nvPr>
        </p:nvSpPr>
        <p:spPr>
          <a:xfrm>
            <a:off x="813816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lang="en-US"/>
              <a:t>Findings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US">
                <a:latin typeface="IBM Plex Mono"/>
                <a:ea typeface="IBM Plex Mono"/>
                <a:cs typeface="IBM Plex Mono"/>
                <a:sym typeface="IBM Plex Mono"/>
              </a:rPr>
              <a:t>Very glaring disparities in age, Gender, and location in developer hiring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US">
                <a:latin typeface="IBM Plex Mono"/>
                <a:ea typeface="IBM Plex Mono"/>
                <a:cs typeface="IBM Plex Mono"/>
                <a:sym typeface="IBM Plex Mono"/>
              </a:rPr>
              <a:t>Fast growing sectors in open sourced technologies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US">
                <a:latin typeface="IBM Plex Mono"/>
                <a:ea typeface="IBM Plex Mono"/>
                <a:cs typeface="IBM Plex Mono"/>
                <a:sym typeface="IBM Plex Mono"/>
              </a:rPr>
              <a:t>Importance of currently used platforms and webframe-works stay about the same </a:t>
            </a:r>
            <a:endParaRPr/>
          </a:p>
        </p:txBody>
      </p:sp>
      <p:sp>
        <p:nvSpPr>
          <p:cNvPr id="184" name="Google Shape;184;p1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lang="en-US"/>
              <a:t>Implications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US">
                <a:latin typeface="IBM Plex Mono"/>
                <a:ea typeface="IBM Plex Mono"/>
                <a:cs typeface="IBM Plex Mono"/>
                <a:sym typeface="IBM Plex Mono"/>
              </a:rPr>
              <a:t>Companies that stay competitive will need to fill in these disparities in developer hiring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US">
                <a:latin typeface="IBM Plex Mono"/>
                <a:ea typeface="IBM Plex Mono"/>
                <a:cs typeface="IBM Plex Mono"/>
                <a:sym typeface="IBM Plex Mono"/>
              </a:rPr>
              <a:t>Investment in independent developers could improve company profits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US">
                <a:latin typeface="IBM Plex Mono"/>
                <a:ea typeface="IBM Plex Mono"/>
                <a:cs typeface="IBM Plex Mono"/>
                <a:sym typeface="IBM Plex Mono"/>
              </a:rPr>
              <a:t>Industry might be staying stagnant in terms of platforms and webframe-works used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000"/>
              <a:buFont typeface="IBM Plex Mono SemiBold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190" name="Google Shape;190;p17"/>
          <p:cNvSpPr txBox="1"/>
          <p:nvPr>
            <p:ph idx="2" type="body"/>
          </p:nvPr>
        </p:nvSpPr>
        <p:spPr>
          <a:xfrm>
            <a:off x="4363216" y="1465400"/>
            <a:ext cx="6809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15265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US">
                <a:latin typeface="IBM Plex Mono"/>
                <a:ea typeface="IBM Plex Mono"/>
                <a:cs typeface="IBM Plex Mono"/>
                <a:sym typeface="IBM Plex Mono"/>
              </a:rPr>
              <a:t>Developers vary in terms of their priorities with some notable trends. For instance, Preferring to branch out to new and open-sourced languages and databases over proprietary technologies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US">
                <a:latin typeface="IBM Plex Mono"/>
                <a:ea typeface="IBM Plex Mono"/>
                <a:cs typeface="IBM Plex Mono"/>
                <a:sym typeface="IBM Plex Mono"/>
              </a:rPr>
              <a:t>There is a need to encourage use of new platforms and </a:t>
            </a:r>
            <a:r>
              <a:rPr lang="en-US"/>
              <a:t>web frameworks</a:t>
            </a:r>
            <a:r>
              <a:rPr lang="en-US">
                <a:latin typeface="IBM Plex Mono"/>
                <a:ea typeface="IBM Plex Mono"/>
                <a:cs typeface="IBM Plex Mono"/>
                <a:sym typeface="IBM Plex Mono"/>
              </a:rPr>
              <a:t> over those currently in use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US">
                <a:latin typeface="IBM Plex Mono"/>
                <a:ea typeface="IBM Plex Mono"/>
                <a:cs typeface="IBM Plex Mono"/>
                <a:sym typeface="IBM Plex Mono"/>
              </a:rPr>
              <a:t>There needs to be a push to fill in demographic gaps in hiring</a:t>
            </a:r>
            <a:endParaRPr/>
          </a:p>
        </p:txBody>
      </p:sp>
      <p:pic>
        <p:nvPicPr>
          <p:cNvPr id="191" name="Google Shape;191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967" y="2113896"/>
            <a:ext cx="3054361" cy="30543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000"/>
              <a:buFont typeface="IBM Plex Mono SemiBold"/>
              <a:buNone/>
            </a:pPr>
            <a:r>
              <a:rPr lang="en-US"/>
              <a:t>APPENDIX</a:t>
            </a:r>
            <a:endParaRPr/>
          </a:p>
        </p:txBody>
      </p:sp>
      <p:sp>
        <p:nvSpPr>
          <p:cNvPr id="197" name="Google Shape;197;p18"/>
          <p:cNvSpPr txBox="1"/>
          <p:nvPr>
            <p:ph idx="2" type="body"/>
          </p:nvPr>
        </p:nvSpPr>
        <p:spPr>
          <a:xfrm>
            <a:off x="2689785" y="1687914"/>
            <a:ext cx="680950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>
                <a:latin typeface="IBM Plex Mono"/>
                <a:ea typeface="IBM Plex Mono"/>
                <a:cs typeface="IBM Plex Mono"/>
                <a:sym typeface="IBM Plex Mono"/>
              </a:rPr>
              <a:t>DASHBOARD TABS created on Cognos Analytics Dashboards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9"/>
          <p:cNvSpPr txBox="1"/>
          <p:nvPr>
            <p:ph type="title"/>
          </p:nvPr>
        </p:nvSpPr>
        <p:spPr>
          <a:xfrm>
            <a:off x="538248" y="383051"/>
            <a:ext cx="592905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000"/>
              <a:buFont typeface="IBM Plex Mono SemiBold"/>
              <a:buNone/>
            </a:pPr>
            <a:r>
              <a:rPr lang="en-US"/>
              <a:t> JOB POSTINGS</a:t>
            </a:r>
            <a:endParaRPr/>
          </a:p>
        </p:txBody>
      </p:sp>
      <p:sp>
        <p:nvSpPr>
          <p:cNvPr id="203" name="Google Shape;203;p19"/>
          <p:cNvSpPr txBox="1"/>
          <p:nvPr>
            <p:ph idx="2" type="body"/>
          </p:nvPr>
        </p:nvSpPr>
        <p:spPr>
          <a:xfrm>
            <a:off x="914400" y="2191385"/>
            <a:ext cx="10489276" cy="28627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200"/>
              <a:buNone/>
            </a:pPr>
            <a:r>
              <a:t/>
            </a:r>
            <a:endParaRPr sz="2200"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200"/>
              <a:buNone/>
            </a:pPr>
            <a:r>
              <a:t/>
            </a:r>
            <a:endParaRPr sz="2200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descr="A graph of number of jobs&#10;&#10;Description automatically generated" id="204" name="Google Shape;20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2636" y="1417503"/>
            <a:ext cx="5549671" cy="4775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0"/>
          <p:cNvSpPr txBox="1"/>
          <p:nvPr>
            <p:ph type="title"/>
          </p:nvPr>
        </p:nvSpPr>
        <p:spPr>
          <a:xfrm>
            <a:off x="538248" y="383051"/>
            <a:ext cx="592905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000"/>
              <a:buFont typeface="IBM Plex Mono SemiBold"/>
              <a:buNone/>
            </a:pPr>
            <a:r>
              <a:rPr lang="en-US"/>
              <a:t>POPULAR LANGUAGES</a:t>
            </a:r>
            <a:endParaRPr/>
          </a:p>
        </p:txBody>
      </p:sp>
      <p:pic>
        <p:nvPicPr>
          <p:cNvPr descr="A graph of a number of blue and white bars&#10;&#10;Description automatically generated" id="210" name="Google Shape;210;p20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2617" y="1602083"/>
            <a:ext cx="5521639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IDE_TEMPLATE_skill_network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2020-10-28T18:29:43Z</dcterms:created>
  <dc:creator>Steve Hord</dc:creator>
</cp:coreProperties>
</file>